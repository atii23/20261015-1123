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dca36874f4684" /><Relationship Type="http://schemas.openxmlformats.org/officeDocument/2006/relationships/extended-properties" Target="/docProps/app.xml" Id="Rb22072052b6e4884" /><Relationship Type="http://schemas.openxmlformats.org/officeDocument/2006/relationships/officeDocument" Target="/ppt/presentation.xml" Id="R40419c15d0c445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c7053bf1f49a8"/>
  </p:sldMasterIdLst>
  <p:notesMasterIdLst>
    <p:notesMasterId xmlns:r="http://schemas.openxmlformats.org/officeDocument/2006/relationships" r:id="R1aa201081d7f4e39"/>
  </p:notesMasterIdLst>
  <p:sldIdLst>
    <p:sldId xmlns:r="http://schemas.openxmlformats.org/officeDocument/2006/relationships" id="256" r:id="Rb76223a251304227"/>
    <p:sldId xmlns:r="http://schemas.openxmlformats.org/officeDocument/2006/relationships" id="257" r:id="R9a5fef3b52424ec6"/>
    <p:sldId xmlns:r="http://schemas.openxmlformats.org/officeDocument/2006/relationships" id="258" r:id="Rc5e742bf5eac4b5e"/>
    <p:sldId xmlns:r="http://schemas.openxmlformats.org/officeDocument/2006/relationships" id="259" r:id="R2c2b37221d4c4229"/>
    <p:sldId xmlns:r="http://schemas.openxmlformats.org/officeDocument/2006/relationships" id="260" r:id="Ra865fa144e3a4310"/>
    <p:sldId xmlns:r="http://schemas.openxmlformats.org/officeDocument/2006/relationships" id="261" r:id="Re36df13f1ab34b33"/>
    <p:sldId xmlns:r="http://schemas.openxmlformats.org/officeDocument/2006/relationships" id="262" r:id="Rce20bab0ca7440be"/>
    <p:sldId xmlns:r="http://schemas.openxmlformats.org/officeDocument/2006/relationships" id="263" r:id="Rd17dac105301479c"/>
    <p:sldId xmlns:r="http://schemas.openxmlformats.org/officeDocument/2006/relationships" id="264" r:id="Raf6326a8ce9244da"/>
    <p:sldId xmlns:r="http://schemas.openxmlformats.org/officeDocument/2006/relationships" id="265" r:id="Reaf8ad8ab34c40b7"/>
    <p:sldId xmlns:r="http://schemas.openxmlformats.org/officeDocument/2006/relationships" id="266" r:id="R8d05921328a94f6a"/>
    <p:sldId xmlns:r="http://schemas.openxmlformats.org/officeDocument/2006/relationships" id="267" r:id="R8fb6d1bc43b74605"/>
    <p:sldId xmlns:r="http://schemas.openxmlformats.org/officeDocument/2006/relationships" id="268" r:id="R435b14bb58f4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2eb8099f44b8d" /><Relationship Type="http://schemas.openxmlformats.org/officeDocument/2006/relationships/slideMaster" Target="/ppt/slideMasters/slideMaster1.xml" Id="R2c9c7053bf1f49a8" /><Relationship Type="http://schemas.openxmlformats.org/officeDocument/2006/relationships/notesMaster" Target="/ppt/notesMasters/notesMaster1.xml" Id="R1aa201081d7f4e39" /><Relationship Type="http://schemas.openxmlformats.org/officeDocument/2006/relationships/presProps" Target="/ppt/presProps.xml" Id="R4743061d74f74b48" /><Relationship Type="http://schemas.openxmlformats.org/officeDocument/2006/relationships/tableStyles" Target="/ppt/tableStyles.xml" Id="Rb899f180c5b649f0" /><Relationship Type="http://schemas.openxmlformats.org/officeDocument/2006/relationships/slide" Target="/ppt/slides/slide1.xml" Id="Rb76223a251304227" /><Relationship Type="http://schemas.openxmlformats.org/officeDocument/2006/relationships/slide" Target="/ppt/slides/slide2.xml" Id="R9a5fef3b52424ec6" /><Relationship Type="http://schemas.openxmlformats.org/officeDocument/2006/relationships/slide" Target="/ppt/slides/slide3.xml" Id="Rc5e742bf5eac4b5e" /><Relationship Type="http://schemas.openxmlformats.org/officeDocument/2006/relationships/slide" Target="/ppt/slides/slide4.xml" Id="R2c2b37221d4c4229" /><Relationship Type="http://schemas.openxmlformats.org/officeDocument/2006/relationships/slide" Target="/ppt/slides/slide5.xml" Id="Ra865fa144e3a4310" /><Relationship Type="http://schemas.openxmlformats.org/officeDocument/2006/relationships/slide" Target="/ppt/slides/slide6.xml" Id="Re36df13f1ab34b33" /><Relationship Type="http://schemas.openxmlformats.org/officeDocument/2006/relationships/slide" Target="/ppt/slides/slide7.xml" Id="Rce20bab0ca7440be" /><Relationship Type="http://schemas.openxmlformats.org/officeDocument/2006/relationships/slide" Target="/ppt/slides/slide8.xml" Id="Rd17dac105301479c" /><Relationship Type="http://schemas.openxmlformats.org/officeDocument/2006/relationships/slide" Target="/ppt/slides/slide9.xml" Id="Raf6326a8ce9244da" /><Relationship Type="http://schemas.openxmlformats.org/officeDocument/2006/relationships/slide" Target="/ppt/slides/slide10.xml" Id="Reaf8ad8ab34c40b7" /><Relationship Type="http://schemas.openxmlformats.org/officeDocument/2006/relationships/slide" Target="/ppt/slides/slide11.xml" Id="R8d05921328a94f6a" /><Relationship Type="http://schemas.openxmlformats.org/officeDocument/2006/relationships/slide" Target="/ppt/slides/slide12.xml" Id="R8fb6d1bc43b74605" /><Relationship Type="http://schemas.openxmlformats.org/officeDocument/2006/relationships/slide" Target="/ppt/slides/slide13.xml" Id="R435b14bb58f4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2052bbc6045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1f750efd6424b" /><Relationship Type="http://schemas.openxmlformats.org/officeDocument/2006/relationships/notesMaster" Target="/ppt/notesMasters/notesMaster1.xml" Id="R8255637d6d3f46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7f603322a64628" /><Relationship Type="http://schemas.openxmlformats.org/officeDocument/2006/relationships/notesMaster" Target="/ppt/notesMasters/notesMaster1.xml" Id="R8809ca9812024c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44d770fec14d7e" /><Relationship Type="http://schemas.openxmlformats.org/officeDocument/2006/relationships/notesMaster" Target="/ppt/notesMasters/notesMaster1.xml" Id="R0d9d6fc41f0140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b0833fa374da1" /><Relationship Type="http://schemas.openxmlformats.org/officeDocument/2006/relationships/notesMaster" Target="/ppt/notesMasters/notesMaster1.xml" Id="R67b06f37c43a49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834b29c6d4e10" /><Relationship Type="http://schemas.openxmlformats.org/officeDocument/2006/relationships/notesMaster" Target="/ppt/notesMasters/notesMaster1.xml" Id="R0eaabcd0162d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7cfebe3479443e" /><Relationship Type="http://schemas.openxmlformats.org/officeDocument/2006/relationships/notesMaster" Target="/ppt/notesMasters/notesMaster1.xml" Id="R9cefa045c9d3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eee598734411a" /><Relationship Type="http://schemas.openxmlformats.org/officeDocument/2006/relationships/notesMaster" Target="/ppt/notesMasters/notesMaster1.xml" Id="Rcba43cc38d8647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3ddfa7599a454e" /><Relationship Type="http://schemas.openxmlformats.org/officeDocument/2006/relationships/notesMaster" Target="/ppt/notesMasters/notesMaster1.xml" Id="R78e0fdc84ff746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e41536a4eb43f3" /><Relationship Type="http://schemas.openxmlformats.org/officeDocument/2006/relationships/notesMaster" Target="/ppt/notesMasters/notesMaster1.xml" Id="R6e7601992f1140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be2b4e10564b0b" /><Relationship Type="http://schemas.openxmlformats.org/officeDocument/2006/relationships/notesMaster" Target="/ppt/notesMasters/notesMaster1.xml" Id="R895ac503f50841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c005dac18d47bc" /><Relationship Type="http://schemas.openxmlformats.org/officeDocument/2006/relationships/notesMaster" Target="/ppt/notesMasters/notesMaster1.xml" Id="Rdb1b932cc1ae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fa6c4686604343" /><Relationship Type="http://schemas.openxmlformats.org/officeDocument/2006/relationships/notesMaster" Target="/ppt/notesMasters/notesMaster1.xml" Id="Rc6d6dd9c99a64c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a94124123445e1" /><Relationship Type="http://schemas.openxmlformats.org/officeDocument/2006/relationships/notesMaster" Target="/ppt/notesMasters/notesMaster1.xml" Id="Re13d2477811b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20 másodperc. 1.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bemutató négy különböző kategóriát vizsgál. A központi kérdés az, hogy a különböző korok problémái hogyan alakították a nyelveket. Az első előadó a történelmet, a második a technikai jellemzőket és a kódpéldákat, a harmadik az összehasonlítást és az örökséget mutatja be. A teljes tervezett idő 10 perc.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40 másodperc. 1.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 évszámok eltérő mérföldköveket jelölnek. A Fortran első kiadása 1957-ben, a Pythoné 1991-ben jelent meg. A C fejlődésének meghatározó éve 1972. A Rustnál az első stabil 1.0 kiadást jelöltük, a fejlesztés korábban kezdődött. Az újabb nyelvek megjelenése nem szüntette meg a korábbiak használatát.</a:t>
            </a:r>
          </a:p>
          <a:p xmlns:a="http://schemas.openxmlformats.org/drawingml/2006/main">
            <a:r>
              <a:t>Források: https://www.ibm.com/history/fortran</a:t>
            </a:r>
          </a:p>
          <a:p xmlns:a="http://schemas.openxmlformats.org/drawingml/2006/main">
            <a:r>
              <a:t>https://www.nokia.com/bell-labs/about/dennis-m-ritchie/chist.html</a:t>
            </a:r>
          </a:p>
          <a:p xmlns:a="http://schemas.openxmlformats.org/drawingml/2006/main">
            <a:r>
              <a:t>https://docs.python.org/3/faq/general.html</a:t>
            </a:r>
          </a:p>
          <a:p xmlns:a="http://schemas.openxmlformats.org/drawingml/2006/main">
            <a:r>
              <a:t>https://blog.rust-lang.org/2015/05/15/Rust-1.0/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55 másodperc. 1.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Fortrant John Backus és az IBM csapata alkotta meg. A cél a tudományos képletek könnyebb leírása volt úgy, hogy a fordított program hatékony maradjon. A C-t Dennis Ritchie fejlesztette a Bell Labsnél, a Unix fejlődésével párhuzamosan. A C megkönnyítette a rendszerprogramok magasabb szintű megírását, miközben megtartotta a hardverközeli hozzáférést. A hordozhatóság nem jelenti, hogy minden C-program változtatás nélkül minden gépen fut.</a:t>
            </a:r>
          </a:p>
          <a:p xmlns:a="http://schemas.openxmlformats.org/drawingml/2006/main">
            <a:r>
              <a:t>Források: https://www.ibm.com/history/fortran</a:t>
            </a:r>
          </a:p>
          <a:p xmlns:a="http://schemas.openxmlformats.org/drawingml/2006/main">
            <a:r>
              <a:t>https://www.nokia.com/bell-labs/about/dennis-m-ritchie/chist.html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55 másodperc. 1.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Guido van Rossum a Python fejlesztését 1989-ben kezdte, első nyilvános kiadása 1991-ben jelent meg. Az ABC hatása mellett fontos volt a rendszermunkára is alkalmas, bővíthető szkriptnyelv. A Rust kezdeti tervezője Graydon Hoare, aki 2006-ban kezdett dolgozni rajta. Később Mozilla-támogatással és közösségi munkával fejlődött. Stabil 1.0 kiadása 2015. május 15-én jelent meg. Célja a hatékony és megbízható rendszerek készítése.</a:t>
            </a:r>
          </a:p>
          <a:p xmlns:a="http://schemas.openxmlformats.org/drawingml/2006/main">
            <a:r>
              <a:t>Források: https://docs.python.org/3/faq/general.html</a:t>
            </a:r>
          </a:p>
          <a:p xmlns:a="http://schemas.openxmlformats.org/drawingml/2006/main">
            <a:r>
              <a:t>https://blog.rust-lang.org/2015/05/15/Rust-1.0/</a:t>
            </a:r>
          </a:p>
          <a:p xmlns:a="http://schemas.openxmlformats.org/drawingml/2006/main">
            <a:r>
              <a:t>https://github.com/graydon/rust-prehistory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50 másodperc. 2.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paradigma a program szervezésének módja. A procedurális megközelítés eljárásokra, az objektumorientált objektumokra, a funkcionális függvényekre épít. A statikus típusosságnál a típusokat fordításkor ismeri a rendszer, a dinamikusnál a műveleteket futáskor ellenőrzi. Az erős és gyenge típusosságnak nincs egységes definíciója. A C-t gyakran gyengébben típusosnak nevezik a konverziók és pointerműveletek miatt. A modern Fortran több paradigmát támogat, mint az eredeti nyelv. Rustban a trait-alapú absztrakció nem azonos a hagyományos osztályörökléssel.</a:t>
            </a:r>
          </a:p>
          <a:p xmlns:a="http://schemas.openxmlformats.org/drawingml/2006/main">
            <a:r>
              <a:t>Források: https://fortran-lang.org/learn/quickstart/variables/</a:t>
            </a:r>
          </a:p>
          <a:p xmlns:a="http://schemas.openxmlformats.org/drawingml/2006/main">
            <a:r>
              <a:t>https://docs.python.org/3/faq/general.html</a:t>
            </a:r>
          </a:p>
          <a:p xmlns:a="http://schemas.openxmlformats.org/drawingml/2006/main">
            <a:r>
              <a:t>https://doc.rust-lang.org/book/ch03-02-data-types.html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55 másodperc. 2.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változók helyigényét minden programban kezelni kell. A C-ben az automatikus élettartamú helyi változókat a nyelv kezeli, de a malloc által lefoglalt memóriát a programozónak free hívással kell felszabadítania. A Python automatikus memóriakezelésű. A CPython referenciaszámlálást és ciklusokat kezelő szemétgyűjtést használ. Rustban az ownership és borrowing szabályait a fordító ellenőrzi, az erőforrások felszabadítása tipikusan a tulajdonos élettartamához kötődik. A modern Fortran allocatable változói bizonyos helyzetekben automatikusan felszabadulnak. Nincs általános tracing GC-je.</a:t>
            </a:r>
          </a:p>
          <a:p xmlns:a="http://schemas.openxmlformats.org/drawingml/2006/main">
            <a:r>
              <a:t>Források: https://docs.python.org/3/faq/design.html</a:t>
            </a:r>
          </a:p>
          <a:p xmlns:a="http://schemas.openxmlformats.org/drawingml/2006/main">
            <a:r>
              <a:t>https://doc.rust-lang.org/book/ch04-01-what-is-ownership.html</a:t>
            </a:r>
          </a:p>
          <a:p xmlns:a="http://schemas.openxmlformats.org/drawingml/2006/main">
            <a:r>
              <a:t>https://fortran-lang.org/learn/best_practices/allocatable_arrays/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40 másodperc. 2.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Mindkét program ugyanazt a sort írja ki. Fortranban a program és az end program keretezi a kódot, az implicit none kikapcsolja az implicit típusmegadást. A példa modern, szabad formátumú Fortran, nem 1957-es forráskód. C-ben a main a belépési pont, a stdio.h a kiíráshoz szükséges deklarációkat adja. A puts sortörést is ír. Ezek teljes, rövid programok. A nagyobb rendezési példák külön forrásfájlokba valók.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40 másodperc. 2.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Pythonban egyetlen utasítás elég ehhez a feladathoz. Ettől még összetett Python-programokban függvények és osztályok is szerepelhetnek. Rustban a main függvény adja a belépési pontot. A println felkiáltójele makróhívást jelöl. A különbség a leírás módja, miközben a kimenet azonos. A kód hossza önmagában nem mutatja meg a futási sebességet vagy a nyelv minőségét.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50 másodperc. 3.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korábbi kódpéldák négy nyelven ugyanazt a buborékrendezést valósítják meg. A program szomszédos elemeket hasonlít össze, és megcseréli őket, ha rossz a sorrend. Egy menet végére a vizsgált rész legnagyobb eleme a végére kerül. A következő menet rövidebb részen dolgozik. Az ismétlődő értékek megmaradnak. A példák a csere nélküli menetnél korán leállnak. A legrosszabb időigény O(n²), ezért ez elsősorban szemléltető algoritmus. A bemutató nem jelent teljesítménymérést.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60 másodperc. 3.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 és a Rust egyaránt használható rendszerközeli feladatokra. A C nagy szabadságot ad, de sok felelősséget hagy a programozónál. Rustban a fordító több hibát elutasít, például a felszabadítás utáni használat sok esetét. Ez tanulási terhet és szigorúbb tervezést jelent. Rustban sincs minden hiba kizárva, logikai hibák vagy szivárgások továbbra is lehetségesek. A sebesség a konkrét programtól és optimalizálástól függ, ezért nem állítunk általános győztest.</a:t>
            </a:r>
          </a:p>
          <a:p xmlns:a="http://schemas.openxmlformats.org/drawingml/2006/main">
            <a:r>
              <a:t>Források: https://www.nokia.com/bell-labs/about/dennis-m-ritchie/chist.html</a:t>
            </a:r>
          </a:p>
          <a:p xmlns:a="http://schemas.openxmlformats.org/drawingml/2006/main">
            <a:r>
              <a:t>https://doc.rust-lang.org/book/ch04-01-what-is-ownership.html</a:t>
            </a:r>
          </a:p>
          <a:p xmlns:a="http://schemas.openxmlformats.org/drawingml/2006/main">
            <a:r>
              <a:t>https://blog.rust-lang.org/2015/05/15/Rust-1.0/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50 másodperc. 3.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 szintaxisa sok nyelvben felismerhető: például C++, Java és C# esetén, illetve részben JavaScriptben és Rustban. Ez nem jelenti, hogy szinte minden nyelv C-ből származna. A Fortran továbbra is fontos a numerikus számításban, modern változatai modulokat és objektumorientált elemeket is adnak. A Python szerepe a szkripteken túl az adatelemzésre és a gépi tanulásra is kiterjedt, sok számítását natív könyvtárak végzik. A Rust a rendszerprogramozás teljesítményigényét kapcsolja össze szigorúbb biztonsági ellenőrzéssel.</a:t>
            </a:r>
          </a:p>
          <a:p xmlns:a="http://schemas.openxmlformats.org/drawingml/2006/main">
            <a:r>
              <a:t>Források: https://www.ibm.com/history/fortran</a:t>
            </a:r>
          </a:p>
          <a:p xmlns:a="http://schemas.openxmlformats.org/drawingml/2006/main">
            <a:r>
              <a:t>https://www.nokia.com/bell-labs/about/dennis-m-ritchie/chist.html</a:t>
            </a:r>
          </a:p>
          <a:p xmlns:a="http://schemas.openxmlformats.org/drawingml/2006/main">
            <a:r>
              <a:t>https://docs.python.org/3/faq/general.html</a:t>
            </a:r>
          </a:p>
          <a:p xmlns:a="http://schemas.openxmlformats.org/drawingml/2006/main">
            <a:r>
              <a:t>https://blog.rust-lang.org/2015/05/15/Rust-1.0/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35 másodperc. 3.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fejlődés során új elvárások jelentek meg, de a régi szempontok nem tűntek el. A Fortran a tudományos számítás, a C a rendszerközeli vezérlés, a Python a gyors fejlesztés, a Rust a hatékony és memóriabiztos rendszerkód példája. Egy valós rendszer több nyelvet is kombinálhat. A választásnál számít a feladat, a meglévő kódbázis, a csapat tudása és a könyvtárak elérhetősége. Ezzel lezárjuk az összehasonlítást.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Javasolt idő: 10 másodperc. 3. előadó.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 egyes állítások részletes hivatkozásai a kapcsolódó diák előadói jegyzeteiben szerepelnek. A kódpéldák saját szemléltető példák. A teljes előadás tervezett időtartama 600 másodperc. A három előadó beosztása: 1–4. dia, 5–8. dia, 9–13. 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0d4ebd2184c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f2d4053504e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f73a7839940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99e0fc7b849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a32008c7442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ac6e1431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15EAE-8C56-4CE6-A8A2-2229DDD0E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FD776E-AE7F-4D26-93CA-EC650CCA02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D52F0E-599A-4158-906A-8C8CB64B2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ACE132-B440-4A22-9A4E-D6D875A8F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2EFDF5-3A8F-4A5A-8976-F01F693250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14ADC2-20E9-4125-8DA4-E40829787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1BAB54-ACED-43E3-B4FD-005BBCBB8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88DFFF-432F-4814-AFDE-A494B9A60A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65FC27-459A-4A32-ADF8-43B07DC5D7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885736-CDA6-4A85-83B4-29C1832E4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9f04388fa4b09" /><Relationship Type="http://schemas.openxmlformats.org/officeDocument/2006/relationships/slideLayout" Target="/ppt/slideLayouts/slideLayout1.xml" Id="Ra622686651904a7e" /><Relationship Type="http://schemas.openxmlformats.org/officeDocument/2006/relationships/slideLayout" Target="/ppt/slideLayouts/slideLayout2.xml" Id="R5fa0176f28164f77" /><Relationship Type="http://schemas.openxmlformats.org/officeDocument/2006/relationships/slideLayout" Target="/ppt/slideLayouts/slideLayout3.xml" Id="R69696cb96c6e4e63" /><Relationship Type="http://schemas.openxmlformats.org/officeDocument/2006/relationships/slideLayout" Target="/ppt/slideLayouts/slideLayout4.xml" Id="Reac2e170f13b485b" /><Relationship Type="http://schemas.openxmlformats.org/officeDocument/2006/relationships/slideLayout" Target="/ppt/slideLayouts/slideLayout5.xml" Id="Rc41b4d930447411d" /><Relationship Type="http://schemas.openxmlformats.org/officeDocument/2006/relationships/slideLayout" Target="/ppt/slideLayouts/slideLayout6.xml" Id="Rb3638922efd8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22686651904a7e"/>
    <p:sldLayoutId xmlns:r="http://schemas.openxmlformats.org/officeDocument/2006/relationships" id="2147483650" r:id="R5fa0176f28164f77"/>
    <p:sldLayoutId xmlns:r="http://schemas.openxmlformats.org/officeDocument/2006/relationships" id="2147483651" r:id="R69696cb96c6e4e63"/>
    <p:sldLayoutId xmlns:r="http://schemas.openxmlformats.org/officeDocument/2006/relationships" id="2147483652" r:id="Reac2e170f13b485b"/>
    <p:sldLayoutId xmlns:r="http://schemas.openxmlformats.org/officeDocument/2006/relationships" id="2147483653" r:id="Rc41b4d930447411d"/>
    <p:sldLayoutId xmlns:r="http://schemas.openxmlformats.org/officeDocument/2006/relationships" id="2147483654" r:id="Rb3638922efd8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df88da94a4249" /><Relationship Type="http://schemas.openxmlformats.org/officeDocument/2006/relationships/notesSlide" Target="/ppt/notesSlides/notesSlide1.xml" Id="R5855e0cdcd59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8d2c7d2024787" /><Relationship Type="http://schemas.openxmlformats.org/officeDocument/2006/relationships/notesSlide" Target="/ppt/notesSlides/notesSlide2.xml" Id="R910febeedb7a4e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4a6ac92b04ff0" /><Relationship Type="http://schemas.openxmlformats.org/officeDocument/2006/relationships/notesSlide" Target="/ppt/notesSlides/notesSlide3.xml" Id="R93cd5d3c809a4d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529177ab24180" /><Relationship Type="http://schemas.openxmlformats.org/officeDocument/2006/relationships/notesSlide" Target="/ppt/notesSlides/notesSlide4.xml" Id="R6da5c4cb6f2841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b76f7c2fc445a" /><Relationship Type="http://schemas.openxmlformats.org/officeDocument/2006/relationships/notesSlide" Target="/ppt/notesSlides/notesSlide5.xml" Id="Rd5ff136768e5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e07e7d2b14901" /><Relationship Type="http://schemas.openxmlformats.org/officeDocument/2006/relationships/notesSlide" Target="/ppt/notesSlides/notesSlide6.xml" Id="R14cd1068e875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2fbf83ea148b9" /><Relationship Type="http://schemas.openxmlformats.org/officeDocument/2006/relationships/notesSlide" Target="/ppt/notesSlides/notesSlide7.xml" Id="Redd2e1f51b684a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ecc18256e4bfe" /><Relationship Type="http://schemas.openxmlformats.org/officeDocument/2006/relationships/notesSlide" Target="/ppt/notesSlides/notesSlide8.xml" Id="R3c5376c20fd1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9c8a06e494fda" /><Relationship Type="http://schemas.openxmlformats.org/officeDocument/2006/relationships/notesSlide" Target="/ppt/notesSlides/notesSlide9.xml" Id="R389f15cebcdf4a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dc52d9a134d5d" /><Relationship Type="http://schemas.openxmlformats.org/officeDocument/2006/relationships/notesSlide" Target="/ppt/notesSlides/notesSlide10.xml" Id="Rb762104623374f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d9415ff27404c" /><Relationship Type="http://schemas.openxmlformats.org/officeDocument/2006/relationships/notesSlide" Target="/ppt/notesSlides/notesSlide11.xml" Id="R8ddd2e7ab3cd4e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3e8e384654e02" /><Relationship Type="http://schemas.openxmlformats.org/officeDocument/2006/relationships/notesSlide" Target="/ppt/notesSlides/notesSlide12.xml" Id="R337a546d53d049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28d8a5dde4d94" /><Relationship Type="http://schemas.openxmlformats.org/officeDocument/2006/relationships/notesSlide" Target="/ppt/notesSlides/notesSlide13.xml" Id="Ra28ce51d4d3541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396FE-74C2-4D9F-AE10-13187FF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programozási nyelvek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evolúciója és összehasonlítása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D3D61-6489-4EC7-BA2B-733FF73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38394-325D-44CA-9B6C-BF19AF34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EACAD-39A1-44E8-852B-80C81CE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63D3BD"/>
                </a:solidFill>
                <a:latin typeface="DejaVu Sans"/>
                <a:ea typeface="DejaVu Sans"/>
                <a:cs typeface="DejaVu Sans"/>
              </a:rPr>
              <a:t>Fortran   /   C   /   Python   /   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535CF-20F8-486F-985B-19D9F0A3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Négy korszak, eltérő tervezési célok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98F11-B0D8-4B77-B3C8-7BC42E99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C0C5"/>
                </a:solidFill>
                <a:latin typeface="DejaVu Sans"/>
                <a:ea typeface="DejaVu Sans"/>
                <a:cs typeface="DejaVu Sans"/>
              </a:rPr>
              <a:t>Projektbemutató • Határidő: 2026. november 23.</a:t>
            </a:r>
          </a:p>
        </p:txBody>
      </p:sp>
    </p:spTree>
    <p:extLst>
      <p:ext uri="{BB962C8B-B14F-4D97-AF65-F5344CB8AC3E}">
        <p14:creationId xmlns:p14="http://schemas.microsoft.com/office/powerpoint/2010/main" val="168634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CB118-BC2B-4FDA-A91D-2620FE5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Négy korszak, négy kiinduló probléma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C3718-6AE3-4115-A4BD-60AA9F1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2464C-D08D-4BA0-83BB-3C155F03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B3711-4369-470C-81E1-FDBA1180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B336-8F07-4001-84EC-2BD4CBB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1957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D29EB-CDB8-4EB5-B19C-89AE1A1F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22338-A254-4C9A-8619-C7D3884F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Fortran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6175B-B532-4426-8E62-11F92B6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Az úttörők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E853E-D5C0-427A-8A72-9146A02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Tudományos</a:t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számítás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4FED-D544-401B-942D-3DDAD46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1972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EECC9-8830-4045-B922-5FA50930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CC2BF-9DC9-4AEC-AD67-342A5239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43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FAC47-C695-4822-8E94-718D93BF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00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Az alapozók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4D589-EAF3-4323-8BE4-B2BD5413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Rendszerközeli</a:t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programozás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B5254-7DFA-4018-92B1-7A93F2E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1991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BD6A3-51B5-47F0-A2AF-CA12BCA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62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C4E57-A1CA-4666-95FF-0BD47CC7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4FFE1-C37E-415E-BE69-5F071F7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Internet és</a:t>
            </a:r>
          </a:p>
          <a:p xmlns:a="http://schemas.openxmlformats.org/drawingml/2006/main">
            <a: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menedzselt kód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799EE-3219-4466-8F0E-4FF2AAD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Olvashatóság és</a:t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gyors fejlesztés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10F5B-37D1-483C-98CC-4E32F4E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526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2015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EDD9A-8650-489D-8AF0-23B4D3D3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62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099CC-4C18-4827-93F7-7AFEE2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Rust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DFD73-4D2B-436D-8020-FFF3404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Modern kihívók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9278B-F0CA-466E-BBA6-3311518F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5775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Sebesség és</a:t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memóriabiztonság</a:t>
            </a:r>
          </a:p>
        </p:txBody>
      </p:sp>
    </p:spTree>
    <p:extLst>
      <p:ext uri="{BB962C8B-B14F-4D97-AF65-F5344CB8AC3E}">
        <p14:creationId xmlns:p14="http://schemas.microsoft.com/office/powerpoint/2010/main" val="1311799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4A68B-99CE-4932-9788-3522E629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Fortran és C: a teljesítmény korai alapjai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596BC-EC28-4BF8-B547-CBF7788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C22F9-AF02-48BF-BDBE-A340482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3ADC-5386-48F7-A3B6-FB6F995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Fortran · 1957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044CB-ED1B-4C80-A723-3EBDA30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95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John Backus és az IBM csapata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Matematikai képletek egyszerűbb leírása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Hatékony tudományos és mérnöki számítások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40B16-947A-48D4-8BC3-B3C37CC6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rPr>
              <a:t>C · 1972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7D6D2-6B24-4F10-98D6-E751EC60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095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Dennis Ritchie, Bell Labs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Unix rendszer fejlesztése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Hardverközeli vezérlés és hordozhatóbb rendszerkód</a:t>
            </a:r>
          </a:p>
        </p:txBody>
      </p:sp>
    </p:spTree>
    <p:extLst>
      <p:ext uri="{BB962C8B-B14F-4D97-AF65-F5344CB8AC3E}">
        <p14:creationId xmlns:p14="http://schemas.microsoft.com/office/powerpoint/2010/main" val="1284750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1BBC7-90A8-496D-B4C3-AB1CBE4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Python és Rust: másfajta fejlesztői terhek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88D6-B781-4BD0-98E5-49D1725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5D36D-3197-44B4-A35B-BA36A13C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8E556-3592-4082-97DA-9755FFE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Python · 1991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02C29-5D40-4163-85F1-0460758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95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Guido van Rossum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Olvasható, rövid programok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Általános célú szkriptek és könnyű bővíthetőség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CF8CE-E3EF-497D-AE13-808750D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5743C"/>
                </a:solidFill>
                <a:latin typeface="DejaVu Sans"/>
                <a:ea typeface="DejaVu Sans"/>
                <a:cs typeface="DejaVu Sans"/>
              </a:rPr>
              <a:t>Rust · 2015, stabil 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2FD3E-552B-4CD9-8856-5AC316A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095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Graydon Hoare, később a közösség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Hatékony rendszerprogramok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Memóriahibák megelőzése fordításkor</a:t>
            </a:r>
          </a:p>
        </p:txBody>
      </p:sp>
    </p:spTree>
    <p:extLst>
      <p:ext uri="{BB962C8B-B14F-4D97-AF65-F5344CB8AC3E}">
        <p14:creationId xmlns:p14="http://schemas.microsoft.com/office/powerpoint/2010/main" val="1482572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C3724-F430-4158-B2D4-EC1D707C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Paradigmák és típusosság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831A8-33E9-4087-8986-0D684F14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EDD62-22C2-46F6-B17B-BF5CD94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D766-9679-438B-A455-0B85BB14C2F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572000"/>
                <a:gridCol w="4638675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Nyelv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Jellemző paradigmák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Típusosság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Fortran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Procedurális, modern OOP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Statikus, erős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Procedurális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Statikus, megengedő konverziók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Procedurális, OOP, funkcionális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Dinamikus, erős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Rust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Procedurális, funkcionális elemek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Statikus, erős, típuskövetkeztetés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23D1-83D3-4461-A839-A79A0929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A statikus–dinamikus és az erős–gyenge felosztás két külön szempont.</a:t>
            </a:r>
          </a:p>
        </p:txBody>
      </p:sp>
    </p:spTree>
    <p:extLst>
      <p:ext uri="{BB962C8B-B14F-4D97-AF65-F5344CB8AC3E}">
        <p14:creationId xmlns:p14="http://schemas.microsoft.com/office/powerpoint/2010/main" val="1528514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D470-CB4C-4FB5-A60E-7F83E797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Ki felel a memória felszabadításáért?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62463-4FFF-444E-9C68-C1972043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453AB-60B7-4AC8-8E58-426C7AA0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AEE2F-3CC1-4510-B4CC-03A29DD570D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33875"/>
                <a:gridCol w="487680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Nyelv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Fő megoldás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Mire kell figyelni?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Fortran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ALLOCATE / DEALLOCATE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Allocatable élettartama, pointerek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Dinamikus tár: malloc / free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Szivárgás, hibás pointerhasználat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Automatikus memóriakezelés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Futásidejű többletköltség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Rust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Ownership és borrowing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Szigorú fordítási szabályok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5DE56-77B3-4872-ACC6-D52612AD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A Rust biztonsági garanciái a safe kódra és a helyes unsafe alapokra épülnek.</a:t>
            </a:r>
          </a:p>
        </p:txBody>
      </p:sp>
    </p:spTree>
    <p:extLst>
      <p:ext uri="{BB962C8B-B14F-4D97-AF65-F5344CB8AC3E}">
        <p14:creationId xmlns:p14="http://schemas.microsoft.com/office/powerpoint/2010/main" val="1896946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27174-2C9D-496D-8CD6-A30C2A2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Azonos feladat: „Hello World” klasszikus nyelveken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C6D39-6663-4CAD-8593-CCDB0571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1E4D-FDDC-4447-8B46-9B4DC9EE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F09CB-9AD0-4A12-A6C2-1C6DB58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Fortran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7879-C1DA-4100-AEA1-977C458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E7D47-F893-43CA-95B6-5919899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48196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program hello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  implicit none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  print '(A)', 'Hello World'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end program hello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B702D-E104-470F-91DD-A25C228C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AE70C-1F2C-469B-904E-6A671B8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238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527D1-C858-4D03-BEF1-59C086B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48196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#include &lt;stdio.h&gt;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int main(void) {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    puts("Hello World");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8D46B-A656-492A-A0D5-45D1A87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Kulcsszavakkal lezárt blokkok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280AA-E462-4969-B30F-332A43D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673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Kapcsos zárójelek és pontosvesszők</a:t>
            </a:r>
          </a:p>
        </p:txBody>
      </p:sp>
    </p:spTree>
    <p:extLst>
      <p:ext uri="{BB962C8B-B14F-4D97-AF65-F5344CB8AC3E}">
        <p14:creationId xmlns:p14="http://schemas.microsoft.com/office/powerpoint/2010/main" val="18463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D1A65-7A69-4202-B215-7FE22B04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Ugyanez Pythonban és Rustban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F3973-5674-442D-BC97-F2E40CFF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5B18-DC9B-416C-A8E6-32B400AD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A9A10-5D56-4E20-B560-E21FA7A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7EAF8-F70C-4B2F-B285-03FA2E9C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42D0-14D0-4DBD-BDAA-171A444D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48196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print("Hello World")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BA2DF-37C3-40F8-B234-C857A82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873E0-CA00-4594-83B8-421E713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23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77B63-21F7-4FBC-AAFF-AAD7B27E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48196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fn main() {</a:t>
            </a:r>
          </a:p>
          <a:p xmlns:a="http://schemas.openxmlformats.org/drawingml/2006/main">
            <a: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    println!("Hello World");</a:t>
            </a:r>
          </a:p>
          <a:p xmlns:a="http://schemas.openxmlformats.org/drawingml/2006/main">
            <a:pPr>
              <a:def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E6F4E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FFDF2-2572-41E7-AE9C-BAE24F49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Rövid, közvetlen utasítás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D779B-3C61-4642-A89A-50C8CC8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C-szerű blokkok, eltérő szabályok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502EB-E20A-4883-8326-9275C34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Közös kimenet:  Hello World</a:t>
            </a:r>
          </a:p>
        </p:txBody>
      </p:sp>
    </p:spTree>
    <p:extLst>
      <p:ext uri="{BB962C8B-B14F-4D97-AF65-F5344CB8AC3E}">
        <p14:creationId xmlns:p14="http://schemas.microsoft.com/office/powerpoint/2010/main" val="1236904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6D5DB-44FA-4BFC-869B-C43961F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forráskódok közös feladata: buborékrendezés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D986D-4B01-43A8-9107-00F80AF4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A1793-410E-4CD3-ABD3-0105844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E1EF8-C9B6-4B01-9E3A-8D62CB1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Bemenet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7082B-A447-4F67-8183-849672EA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64   34   25   12   22   11   90   12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EB770-D5A3-42CB-BD65-D54C15B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Növekvő sorrend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22B8-E9CA-4826-8392-3E48271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11   12   12   22   25   34   64   90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3079-042D-4320-BBA3-70B76C5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Ugyanaz az algoritmus teszi összehasonlíthatóvá a négy megvalósítást.</a:t>
            </a:r>
          </a:p>
        </p:txBody>
      </p:sp>
    </p:spTree>
    <p:extLst>
      <p:ext uri="{BB962C8B-B14F-4D97-AF65-F5344CB8AC3E}">
        <p14:creationId xmlns:p14="http://schemas.microsoft.com/office/powerpoint/2010/main" val="1388796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3ABC7-A3B6-43D5-BAC6-E872397E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Közvetlen összehasonlítás: C és 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53744-5F8F-4ABA-A7D9-FA50570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08440-EFE0-4863-BD9F-BF115A71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BE57A-E527-4345-A176-9D2A5A48384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191000"/>
                <a:gridCol w="4448175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Szempont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Rust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T w="19050">
                      <a:solidFill>
                        <a:srgbClr val="F3F4EF"/>
                      </a:solidFill>
                      <a:prstDash val="solid"/>
                    </a:lnT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12293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Memória-</a:t>
                      </a:r>
                    </a:p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biztonság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Nagyrészt fejlesztői felelősség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Safe kódban fordítói garanciák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Dinamikus memória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Kézi foglalás és felszabadítás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Tulajdonláshoz kötött kezelés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Teljesítmény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Natív gépi kód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Natív gépi kód, kötelező GC nélkül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Fő kompromisszum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3F4EF"/>
                      </a:solidFill>
                      <a:prstDash val="solid"/>
                    </a:lnL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Szabadság, több hibalehetőség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A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Több szabály, korábbi hibajelzés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3F4EF"/>
                      </a:solidFill>
                      <a:prstDash val="solid"/>
                    </a:lnR>
                    <a:lnB w="19050">
                      <a:solidFill>
                        <a:srgbClr val="F3F4EF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F1CB3-CBA4-4158-AC06-4ABCD831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A modern tervezés több ellenőrzést helyez a fordítóba.</a:t>
            </a:r>
          </a:p>
        </p:txBody>
      </p:sp>
    </p:spTree>
    <p:extLst>
      <p:ext uri="{BB962C8B-B14F-4D97-AF65-F5344CB8AC3E}">
        <p14:creationId xmlns:p14="http://schemas.microsoft.com/office/powerpoint/2010/main" val="427603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0583-75DE-499E-8267-5E9C4B0A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régi nyelvek öröksége ma is látható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7B015-FB7B-48D9-BB51-97485C22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91675-D38A-43C8-B51D-6ABDEFA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44A04-488A-4EF9-A564-5DD34A9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Fortran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AB6BB-9B5F-445C-A93B-ACFE5395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tudományos kódok tovább élnek, a nyelv közben fejlődik.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C278E-635A-45F3-B9DE-3DD5985F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3A3DE-7052-4D4F-871F-85B34F6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szintaxis és a rendszerközeli szemlélet sok nyelvre hatott.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0C22-D2A0-47F0-BA93-2F79B96D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86AAE-135C-4D7C-94AF-647EDD7F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szkriptek mellett az adatelemzés és a gépi tanulás eszköze.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4F55E-D1C7-4126-99DA-E1024A42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C802-858B-4982-A669-A88369C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A rendszerprogramozásban erősebb fordítói ellenőrzést kínál.</a:t>
            </a:r>
          </a:p>
        </p:txBody>
      </p:sp>
    </p:spTree>
    <p:extLst>
      <p:ext uri="{BB962C8B-B14F-4D97-AF65-F5344CB8AC3E}">
        <p14:creationId xmlns:p14="http://schemas.microsoft.com/office/powerpoint/2010/main" val="1840063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41445-385D-4068-AB89-D340B67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feladat dönti el, melyik nyelv illik hozzá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25C50-D93F-4AEC-BC1E-AAA6271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34A17-B327-4EEE-9795-93AF1C36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C0C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3A71D-88E0-4C18-AC62-0E2B2F1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63D3BD"/>
                </a:solidFill>
                <a:latin typeface="DejaVu Sans"/>
                <a:ea typeface="DejaVu Sans"/>
                <a:cs typeface="DejaVu Sans"/>
              </a:rPr>
              <a:t>A tervezési hangsúlyok változnak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B1233-68FB-47AE-9CE8-F8468BFC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Gépi hatékonyság és hardverközelség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Olvashatóság és fejlesztési sebesség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Biztonság és megbízható párhuzamosság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C6667-C083-42C0-94DF-D2FD779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D3BD"/>
                </a:solidFill>
                <a:latin typeface="DejaVu Sans"/>
                <a:ea typeface="DejaVu Sans"/>
                <a:cs typeface="DejaVu Sans"/>
              </a:rPr>
              <a:t>Egy rendszerben több nyelv is együtt dolgozhat.</a:t>
            </a:r>
          </a:p>
        </p:txBody>
      </p:sp>
    </p:spTree>
    <p:extLst>
      <p:ext uri="{BB962C8B-B14F-4D97-AF65-F5344CB8AC3E}">
        <p14:creationId xmlns:p14="http://schemas.microsoft.com/office/powerpoint/2010/main" val="417785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A2D09-644D-41F4-98C7-07F6151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Felhasznált források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8E3D9-F96F-48BE-835F-661D754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31767-A400-48D2-9D50-D1291E51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ABC94-9725-40A4-9A8E-24CF14D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IBM: Fortran története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F7294-F807-484E-A74B-5F08B0E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https://www.ibm.com/history/fortran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5C376-2EF9-495C-8483-5E4A2CB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Dennis Ritchie: The Development of the C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26083-8D28-4281-911D-15497680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https://www.nokia.com/bell-labs/about/dennis-m-ritchie/chist.html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A0DFA-CDC3-4103-B2B1-99147D54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Python: General FAQ és Design and History FAQ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27975-7BF3-4632-A284-058C850A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https://docs.python.org/3/faq/general.html</a:t>
            </a:r>
          </a:p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https://docs.python.org/3/faq/design.html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9B375-0324-4913-B48E-5A64E50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The Rust Book: Ownership és Data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AEA75-A266-4898-96A4-BEBDF4A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https://doc.rust-lang.org/book/ch04-01-what-is-ownership.html</a:t>
            </a:r>
          </a:p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https://doc.rust-lang.org/book/ch03-02-data-types.html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1B3BC-D293-4AB0-9D8E-CDF52EEF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A32"/>
                </a:solidFill>
                <a:latin typeface="DejaVu Sans"/>
                <a:ea typeface="DejaVu Sans"/>
                <a:cs typeface="DejaVu Sans"/>
              </a:rPr>
              <a:t>Rust 1.0 bejelentése / Fortran típusok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5ED22-C35B-48EC-BCE9-76674B0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https://blog.rust-lang.org/2015/05/15/Rust-1.0/</a:t>
            </a:r>
          </a:p>
          <a:p xmlns:a="http://schemas.openxmlformats.org/drawingml/2006/main">
            <a:pPr>
              <a:def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6B"/>
                </a:solidFill>
                <a:latin typeface="DejaVu Sans"/>
                <a:ea typeface="DejaVu Sans"/>
                <a:cs typeface="DejaVu Sans"/>
              </a:rPr>
              <a:t>https://fortran-lang.org/learn/quickstart/variables/</a:t>
            </a:r>
          </a:p>
        </p:txBody>
      </p:sp>
    </p:spTree>
    <p:extLst>
      <p:ext uri="{BB962C8B-B14F-4D97-AF65-F5344CB8AC3E}">
        <p14:creationId xmlns:p14="http://schemas.microsoft.com/office/powerpoint/2010/main" val="1641057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2026-10-22T09:07:30.4440000Z</dcterms:created>
  <dcterms:modified xsi:type="dcterms:W3CDTF">2026-10-22T09:07:30.4440000Z</dcterms:modified>
</coreProperties>
</file>